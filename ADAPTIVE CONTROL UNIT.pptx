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 strictFirstAndLastChars="0">
  <p:sldMasterIdLst>
    <p:sldMasterId id="2147483648" r:id="rId1"/>
  </p:sldMasterIdLst>
  <p:notesMasterIdLst>
    <p:notesMasterId r:id="rId1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9144000" cy="51435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 /><Relationship Id="rId17" Type="http://schemas.openxmlformats.org/officeDocument/2006/relationships/tableStyles" Target="tableStyles.xml" /><Relationship Id="rId1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5317538" name="Google Shape;3;n"/>
          <p:cNvSpPr/>
          <p:nvPr>
            <p:ph type="sldImg" idx="2"/>
          </p:nvPr>
        </p:nvSpPr>
        <p:spPr bwMode="auto"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1205471" name="Google Shape;4;n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095131" name="Google Shape;51;p:notes"/>
          <p:cNvSpPr/>
          <p:nvPr>
            <p:ph type="sldImg" idx="2"/>
          </p:nvPr>
        </p:nvSpPr>
        <p:spPr bwMode="auto"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2484062" name="Google Shape;52;p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0629862" name="Google Shape;58;g3e1d1037a72_0_3:notes"/>
          <p:cNvSpPr/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9243390" name="Google Shape;59;g3e1d1037a72_0_3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3646953" name="Google Shape;64;g3e1d1037a72_0_11:notes"/>
          <p:cNvSpPr/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0149057" name="Google Shape;65;g3e1d1037a72_0_11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760258" name="Google Shape;70;g3e1d1037a72_0_17:notes"/>
          <p:cNvSpPr/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4548370" name="Google Shape;71;g3e1d1037a72_0_17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4979778" name="Google Shape;76;g3e1d1037a72_0_23:notes"/>
          <p:cNvSpPr/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1911386" name="Google Shape;77;g3e1d1037a72_0_23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8273661" name="Google Shape;82;g3e1d1037a72_0_29:notes"/>
          <p:cNvSpPr/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3393606" name="Google Shape;83;g3e1d1037a72_0_29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6695642" name="Google Shape;88;g3e223eb21ce_0_0:notes"/>
          <p:cNvSpPr/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2986791" name="Google Shape;89;g3e223eb21ce_0_0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0497498" name="Google Shape;94;g3e223eb21ce_0_11:notes"/>
          <p:cNvSpPr/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0966757" name="Google Shape;95;g3e223eb21ce_0_11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3548016" name="Google Shape;100;g3e1d1037a72_0_35:notes"/>
          <p:cNvSpPr/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811141" name="Google Shape;101;g3e1d1037a72_0_35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5952578" name="Google Shape;106;g3e1d1037a72_0_41:notes"/>
          <p:cNvSpPr/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605816" name="Google Shape;107;g3e1d1037a72_0_41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2039676" name="Google Shape;112;g3e1d1037a72_0_47:notes"/>
          <p:cNvSpPr/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4718888" name="Google Shape;113;g3e1d1037a72_0_47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slide" preserve="0" showMasterPhAnim="0" showMasterSp="1" type="title" userDrawn="1">
  <p:cSld name="TITL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8228340" name="Google Shape;10;p2"/>
          <p:cNvSpPr txBox="1"/>
          <p:nvPr>
            <p:ph type="ctrTitle"/>
          </p:nvPr>
        </p:nvSpPr>
        <p:spPr bwMode="auto"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pPr>
              <a:defRPr/>
            </a:pPr>
            <a:endParaRPr/>
          </a:p>
        </p:txBody>
      </p:sp>
      <p:sp>
        <p:nvSpPr>
          <p:cNvPr id="1191444249" name="Google Shape;11;p2"/>
          <p:cNvSpPr txBox="1"/>
          <p:nvPr>
            <p:ph type="subTitle" idx="1"/>
          </p:nvPr>
        </p:nvSpPr>
        <p:spPr bwMode="auto"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>
              <a:defRPr/>
            </a:pPr>
            <a:endParaRPr/>
          </a:p>
        </p:txBody>
      </p:sp>
      <p:sp>
        <p:nvSpPr>
          <p:cNvPr id="152414300" name="Google Shape;12;p2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Section header" preserve="0" showMasterPhAnim="0" showMasterSp="1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871937" name="Google Shape;14;p3"/>
          <p:cNvSpPr txBox="1"/>
          <p:nvPr>
            <p:ph type="title"/>
          </p:nvPr>
        </p:nvSpPr>
        <p:spPr bwMode="auto"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pPr>
              <a:defRPr/>
            </a:pPr>
            <a:endParaRPr/>
          </a:p>
        </p:txBody>
      </p:sp>
      <p:sp>
        <p:nvSpPr>
          <p:cNvPr id="182523847" name="Google Shape;15;p3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and body" preserve="0" showMasterPhAnim="0" showMasterSp="1" type="tx" userDrawn="1">
  <p:cSld name="TITLE_AND_BOD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2345606" name="Google Shape;17;p4"/>
          <p:cNvSpPr txBox="1"/>
          <p:nvPr>
            <p:ph type="title"/>
          </p:nvPr>
        </p:nvSpPr>
        <p:spPr bwMode="auto"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786277976" name="Google Shape;18;p4"/>
          <p:cNvSpPr txBox="1"/>
          <p:nvPr>
            <p:ph type="body" idx="1"/>
          </p:nvPr>
        </p:nvSpPr>
        <p:spPr bwMode="auto"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072964511" name="Google Shape;19;p4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and two columns" preserve="0" showMasterPhAnim="0" showMasterSp="1" type="twoColTx" userDrawn="1">
  <p:cSld name="TITLE_AND_TWO_COLUMN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89793" name="Google Shape;21;p5"/>
          <p:cNvSpPr txBox="1"/>
          <p:nvPr>
            <p:ph type="title"/>
          </p:nvPr>
        </p:nvSpPr>
        <p:spPr bwMode="auto"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1544051682" name="Google Shape;22;p5"/>
          <p:cNvSpPr txBox="1"/>
          <p:nvPr>
            <p:ph type="body" idx="1"/>
          </p:nvPr>
        </p:nvSpPr>
        <p:spPr bwMode="auto"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>
              <a:defRPr/>
            </a:pPr>
            <a:endParaRPr/>
          </a:p>
        </p:txBody>
      </p:sp>
      <p:sp>
        <p:nvSpPr>
          <p:cNvPr id="412087323" name="Google Shape;23;p5"/>
          <p:cNvSpPr txBox="1"/>
          <p:nvPr>
            <p:ph type="body" idx="2"/>
          </p:nvPr>
        </p:nvSpPr>
        <p:spPr bwMode="auto">
          <a:xfrm>
            <a:off x="4832399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>
              <a:defRPr/>
            </a:pPr>
            <a:endParaRPr/>
          </a:p>
        </p:txBody>
      </p:sp>
      <p:sp>
        <p:nvSpPr>
          <p:cNvPr id="1658804702" name="Google Shape;24;p5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Title only" preserve="0" showMasterPhAnim="0" showMasterSp="1" type="titleOnly" userDrawn="1">
  <p:cSld name="TITLE_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3275019" name="Google Shape;26;p6"/>
          <p:cNvSpPr txBox="1"/>
          <p:nvPr>
            <p:ph type="title"/>
          </p:nvPr>
        </p:nvSpPr>
        <p:spPr bwMode="auto"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471078067" name="Google Shape;27;p6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One column text" preserve="0" showMasterPhAnim="0" showMasterSp="1" userDrawn="1">
  <p:cSld name="ONE_COLUMN_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0510180" name="Google Shape;29;p7"/>
          <p:cNvSpPr txBox="1"/>
          <p:nvPr>
            <p:ph type="title"/>
          </p:nvPr>
        </p:nvSpPr>
        <p:spPr bwMode="auto"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pPr>
              <a:defRPr/>
            </a:pPr>
            <a:endParaRPr/>
          </a:p>
        </p:txBody>
      </p:sp>
      <p:sp>
        <p:nvSpPr>
          <p:cNvPr id="1627879284" name="Google Shape;30;p7"/>
          <p:cNvSpPr txBox="1"/>
          <p:nvPr>
            <p:ph type="body" idx="1"/>
          </p:nvPr>
        </p:nvSpPr>
        <p:spPr bwMode="auto"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>
              <a:defRPr/>
            </a:pPr>
            <a:endParaRPr/>
          </a:p>
        </p:txBody>
      </p:sp>
      <p:sp>
        <p:nvSpPr>
          <p:cNvPr id="1796587090" name="Google Shape;31;p7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Main point" preserve="0" showMasterPhAnim="0" showMasterSp="1" userDrawn="1">
  <p:cSld name="MAIN_POI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5488307" name="Google Shape;33;p8"/>
          <p:cNvSpPr txBox="1"/>
          <p:nvPr>
            <p:ph type="title"/>
          </p:nvPr>
        </p:nvSpPr>
        <p:spPr bwMode="auto"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pPr>
              <a:defRPr/>
            </a:pPr>
            <a:endParaRPr/>
          </a:p>
        </p:txBody>
      </p:sp>
      <p:sp>
        <p:nvSpPr>
          <p:cNvPr id="405100832" name="Google Shape;34;p8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Section title and description" preserve="0" showMasterPhAnim="0" showMasterSp="1" userDrawn="1">
  <p:cSld name="SECTION_TITLE_AND_DESCRI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8395831" name="Google Shape;36;p9"/>
          <p:cNvSpPr/>
          <p:nvPr/>
        </p:nvSpPr>
        <p:spPr bwMode="auto"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sp>
        <p:nvSpPr>
          <p:cNvPr id="399342084" name="Google Shape;37;p9"/>
          <p:cNvSpPr txBox="1"/>
          <p:nvPr>
            <p:ph type="title"/>
          </p:nvPr>
        </p:nvSpPr>
        <p:spPr bwMode="auto">
          <a:xfrm>
            <a:off x="265500" y="1233175"/>
            <a:ext cx="4045199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pPr>
              <a:defRPr/>
            </a:pPr>
            <a:endParaRPr/>
          </a:p>
        </p:txBody>
      </p:sp>
      <p:sp>
        <p:nvSpPr>
          <p:cNvPr id="819542772" name="Google Shape;38;p9"/>
          <p:cNvSpPr txBox="1"/>
          <p:nvPr>
            <p:ph type="subTitle" idx="1"/>
          </p:nvPr>
        </p:nvSpPr>
        <p:spPr bwMode="auto">
          <a:xfrm>
            <a:off x="265500" y="2803075"/>
            <a:ext cx="4045199" cy="12350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pPr>
              <a:defRPr/>
            </a:pPr>
            <a:endParaRPr/>
          </a:p>
        </p:txBody>
      </p:sp>
      <p:sp>
        <p:nvSpPr>
          <p:cNvPr id="1992219092" name="Google Shape;39;p9"/>
          <p:cNvSpPr txBox="1"/>
          <p:nvPr>
            <p:ph type="body" idx="2"/>
          </p:nvPr>
        </p:nvSpPr>
        <p:spPr bwMode="auto"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71962011" name="Google Shape;40;p9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Caption" preserve="0" showMasterPhAnim="0" showMasterSp="1" userDrawn="1">
  <p:cSld name="CAPTION_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0799441" name="Google Shape;42;p10"/>
          <p:cNvSpPr txBox="1"/>
          <p:nvPr>
            <p:ph type="body" idx="1"/>
          </p:nvPr>
        </p:nvSpPr>
        <p:spPr bwMode="auto"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1849755241" name="Google Shape;43;p10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Big number" preserve="0" showMasterPhAnim="0" showMasterSp="1" userDrawn="1">
  <p:cSld name="BIG_NUMB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310478" name="Google Shape;45;p11"/>
          <p:cNvSpPr txBox="1"/>
          <p:nvPr>
            <p:ph type="title" hasCustomPrompt="1"/>
          </p:nvPr>
        </p:nvSpPr>
        <p:spPr bwMode="auto"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pPr>
              <a:defRPr/>
            </a:pPr>
            <a:r>
              <a:rPr/>
              <a:t>xx%</a:t>
            </a:r>
            <a:endParaRPr/>
          </a:p>
        </p:txBody>
      </p:sp>
      <p:sp>
        <p:nvSpPr>
          <p:cNvPr id="1458454661" name="Google Shape;46;p11"/>
          <p:cNvSpPr txBox="1"/>
          <p:nvPr>
            <p:ph type="body" idx="1"/>
          </p:nvPr>
        </p:nvSpPr>
        <p:spPr bwMode="auto"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>
              <a:defRPr/>
            </a:pPr>
            <a:endParaRPr/>
          </a:p>
        </p:txBody>
      </p:sp>
      <p:sp>
        <p:nvSpPr>
          <p:cNvPr id="2064970442" name="Google Shape;47;p11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Blank" preserve="0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0993459" name="Google Shape;49;p12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simple-light-2"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30669" name="Google Shape;6;p1"/>
          <p:cNvSpPr txBox="1"/>
          <p:nvPr>
            <p:ph type="title"/>
          </p:nvPr>
        </p:nvSpPr>
        <p:spPr bwMode="auto"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1305096886" name="Google Shape;7;p1"/>
          <p:cNvSpPr txBox="1"/>
          <p:nvPr>
            <p:ph type="body" idx="1"/>
          </p:nvPr>
        </p:nvSpPr>
        <p:spPr bwMode="auto"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767447784" name="Google Shape;8;p1"/>
          <p:cNvSpPr txBox="1"/>
          <p:nvPr>
            <p:ph type="sldNum" idx="12"/>
          </p:nvPr>
        </p:nvSpPr>
        <p:spPr bwMode="auto"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5508370" name="Google Shape;54;p13"/>
          <p:cNvSpPr txBox="1"/>
          <p:nvPr>
            <p:ph type="ctrTitle"/>
          </p:nvPr>
        </p:nvSpPr>
        <p:spPr bwMode="auto">
          <a:xfrm>
            <a:off x="311708" y="-7219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3600"/>
              <a:t>ADAPTIVE CONTROL UNIT</a:t>
            </a:r>
            <a:endParaRPr sz="3600"/>
          </a:p>
        </p:txBody>
      </p:sp>
      <p:sp>
        <p:nvSpPr>
          <p:cNvPr id="1694113958" name="Google Shape;56;p13"/>
          <p:cNvSpPr txBox="1"/>
          <p:nvPr/>
        </p:nvSpPr>
        <p:spPr bwMode="auto">
          <a:xfrm>
            <a:off x="2266500" y="3157675"/>
            <a:ext cx="5185500" cy="5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1800" b="1">
                <a:solidFill>
                  <a:schemeClr val="dk1"/>
                </a:solidFill>
              </a:rPr>
              <a:t>KL UNIVERSITY, AZIZNAGAR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1457664952" name=""/>
          <p:cNvSpPr txBox="1"/>
          <p:nvPr/>
        </p:nvSpPr>
        <p:spPr bwMode="auto">
          <a:xfrm rot="0" flipH="0" flipV="0">
            <a:off x="2075558" y="1647264"/>
            <a:ext cx="6183395" cy="10061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r">
              <a:defRPr/>
            </a:pPr>
            <a:r>
              <a:rPr sz="2000"/>
              <a:t>Presented by - </a:t>
            </a:r>
            <a:endParaRPr sz="2000"/>
          </a:p>
          <a:p>
            <a:pPr algn="r">
              <a:defRPr/>
            </a:pPr>
            <a:r>
              <a:rPr sz="2000"/>
              <a:t>Sayooj S</a:t>
            </a:r>
            <a:endParaRPr sz="2000"/>
          </a:p>
          <a:p>
            <a:pPr algn="r">
              <a:defRPr/>
            </a:pPr>
            <a:r>
              <a:rPr sz="2000"/>
              <a:t>MD Sameer Ahmed</a:t>
            </a: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6745370" name="Google Shape;61;p14"/>
          <p:cNvSpPr txBox="1"/>
          <p:nvPr>
            <p:ph type="title"/>
          </p:nvPr>
        </p:nvSpPr>
        <p:spPr bwMode="auto"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3600" b="1">
                <a:highlight>
                  <a:schemeClr val="lt1"/>
                </a:highlight>
                <a:latin typeface="Courier New"/>
                <a:ea typeface="Courier New"/>
                <a:cs typeface="Courier New"/>
              </a:rPr>
              <a:t>ABSTRACT</a:t>
            </a:r>
            <a:endParaRPr sz="3600">
              <a:highlight>
                <a:schemeClr val="lt1"/>
              </a:highlight>
            </a:endParaRPr>
          </a:p>
        </p:txBody>
      </p:sp>
      <p:sp>
        <p:nvSpPr>
          <p:cNvPr id="1060515087" name="Google Shape;62;p14"/>
          <p:cNvSpPr txBox="1"/>
          <p:nvPr>
            <p:ph type="body" idx="1"/>
          </p:nvPr>
        </p:nvSpPr>
        <p:spPr bwMode="auto">
          <a:xfrm>
            <a:off x="311700" y="1573500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5560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ourier New"/>
              <a:buChar char="-"/>
              <a:defRPr/>
            </a:pP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RTL design implementing runtime-adaptive hardware control unit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</a:endParaRPr>
          </a:p>
          <a:p>
            <a:pPr marL="457200" lvl="0" indent="-35560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ourier New"/>
              <a:buChar char="-"/>
              <a:defRPr/>
            </a:pP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Dynamically switches between low-power &amp; high-performance modes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</a:endParaRPr>
          </a:p>
          <a:p>
            <a:pPr marL="457200" lvl="0" indent="-35560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ourier New"/>
              <a:buChar char="-"/>
              <a:defRPr/>
            </a:pP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Demonstrates power-efficiency vs speed trade-off optimization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  <a:defRPr/>
            </a:pPr>
            <a:endParaRPr sz="2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0848941" name="Google Shape;67;p15"/>
          <p:cNvSpPr txBox="1"/>
          <p:nvPr>
            <p:ph type="title"/>
          </p:nvPr>
        </p:nvSpPr>
        <p:spPr bwMode="auto"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3600" b="1">
                <a:highlight>
                  <a:schemeClr val="lt1"/>
                </a:highlight>
                <a:latin typeface="Courier New"/>
                <a:ea typeface="Courier New"/>
                <a:cs typeface="Courier New"/>
              </a:rPr>
              <a:t>OBJECTIVE</a:t>
            </a:r>
            <a:endParaRPr sz="3600">
              <a:highlight>
                <a:schemeClr val="lt1"/>
              </a:highlight>
            </a:endParaRPr>
          </a:p>
        </p:txBody>
      </p:sp>
      <p:sp>
        <p:nvSpPr>
          <p:cNvPr id="1844741384" name="Google Shape;68;p15"/>
          <p:cNvSpPr txBox="1"/>
          <p:nvPr>
            <p:ph type="body" idx="1"/>
          </p:nvPr>
        </p:nvSpPr>
        <p:spPr bwMode="auto">
          <a:xfrm>
            <a:off x="311700" y="1573500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en" sz="2000">
                <a:solidFill>
                  <a:srgbClr val="0451A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-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 Design a reconfigurable control unit with dual execution paths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en" sz="2000">
                <a:solidFill>
                  <a:srgbClr val="0451A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-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 Achieve power optimization when speed is not critical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en" sz="2000">
                <a:solidFill>
                  <a:srgbClr val="0451A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-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 Achieve performance optimization when faster execution needed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en" sz="2000">
                <a:solidFill>
                  <a:srgbClr val="0451A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-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 Support dynamic switching between modes at runtime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  <a:defRPr/>
            </a:pP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0712829" name="Google Shape;73;p16"/>
          <p:cNvSpPr txBox="1"/>
          <p:nvPr>
            <p:ph type="title"/>
          </p:nvPr>
        </p:nvSpPr>
        <p:spPr bwMode="auto"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3600" b="1">
                <a:highlight>
                  <a:schemeClr val="lt1"/>
                </a:highlight>
                <a:latin typeface="Courier New"/>
                <a:ea typeface="Courier New"/>
                <a:cs typeface="Courier New"/>
              </a:rPr>
              <a:t>INTRODUCTION</a:t>
            </a:r>
            <a:endParaRPr sz="3600">
              <a:highlight>
                <a:schemeClr val="lt1"/>
              </a:highlight>
            </a:endParaRPr>
          </a:p>
        </p:txBody>
      </p:sp>
      <p:sp>
        <p:nvSpPr>
          <p:cNvPr id="1284363506" name="Google Shape;74;p16"/>
          <p:cNvSpPr txBox="1"/>
          <p:nvPr>
            <p:ph type="body" idx="1"/>
          </p:nvPr>
        </p:nvSpPr>
        <p:spPr bwMode="auto">
          <a:xfrm>
            <a:off x="311700" y="1573500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en" sz="2000">
                <a:solidFill>
                  <a:srgbClr val="0451A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-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 Traditional hardware: fixed power/performance tradeoff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en" sz="2000">
                <a:solidFill>
                  <a:srgbClr val="0451A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-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 Need for adaptive systems in modern processors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en" sz="2000">
                <a:solidFill>
                  <a:srgbClr val="0451A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-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 Control unit: decodes instructions &amp; generates control signals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en" sz="2000">
                <a:solidFill>
                  <a:srgbClr val="0451A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-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 Two modes: Low-Power vs High-Performance 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en" sz="2000">
                <a:solidFill>
                  <a:srgbClr val="0451A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-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 Mode selection via external input signal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  <a:defRPr/>
            </a:pPr>
            <a:endParaRPr sz="2000">
              <a:solidFill>
                <a:srgbClr val="0451A5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6241514" name="Google Shape;79;p17"/>
          <p:cNvSpPr txBox="1"/>
          <p:nvPr>
            <p:ph type="title"/>
          </p:nvPr>
        </p:nvSpPr>
        <p:spPr bwMode="auto"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3600" b="1">
                <a:highlight>
                  <a:schemeClr val="lt1"/>
                </a:highlight>
                <a:latin typeface="Courier New"/>
                <a:ea typeface="Courier New"/>
                <a:cs typeface="Courier New"/>
              </a:rPr>
              <a:t>ARCHITECTURE AND HIERARCHY</a:t>
            </a:r>
            <a:endParaRPr sz="3600">
              <a:highlight>
                <a:schemeClr val="lt1"/>
              </a:highlight>
            </a:endParaRPr>
          </a:p>
        </p:txBody>
      </p:sp>
      <p:sp>
        <p:nvSpPr>
          <p:cNvPr id="428148793" name="Google Shape;80;p17"/>
          <p:cNvSpPr txBox="1"/>
          <p:nvPr>
            <p:ph type="body" idx="1"/>
          </p:nvPr>
        </p:nvSpPr>
        <p:spPr bwMode="auto">
          <a:xfrm>
            <a:off x="311700" y="1573500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- </a:t>
            </a:r>
            <a:r>
              <a:rPr lang="en" sz="2000" b="1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Top Module: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 I/O synchronization wrapper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- </a:t>
            </a:r>
            <a:r>
              <a:rPr lang="en" sz="2000" b="1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Adaptive Module: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 Mode selector between control units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- </a:t>
            </a:r>
            <a:r>
              <a:rPr lang="en" sz="2000" b="1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Low-Power: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 Power-efficient decoder (pipelined, registered)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- </a:t>
            </a:r>
            <a:r>
              <a:rPr lang="en" sz="2000" b="1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High-Perf: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 High-speed decoder (parallel, combinational)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  <a:defRPr/>
            </a:pP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9373638" name="Google Shape;85;p18"/>
          <p:cNvSpPr txBox="1"/>
          <p:nvPr>
            <p:ph type="title"/>
          </p:nvPr>
        </p:nvSpPr>
        <p:spPr bwMode="auto"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3600" b="1">
                <a:highlight>
                  <a:schemeClr val="lt1"/>
                </a:highlight>
                <a:latin typeface="Courier New"/>
                <a:ea typeface="Courier New"/>
                <a:cs typeface="Courier New"/>
              </a:rPr>
              <a:t>WORKING PRINCIPLE</a:t>
            </a:r>
            <a:endParaRPr sz="3600">
              <a:highlight>
                <a:schemeClr val="lt1"/>
              </a:highlight>
            </a:endParaRPr>
          </a:p>
        </p:txBody>
      </p:sp>
      <p:sp>
        <p:nvSpPr>
          <p:cNvPr id="292497538" name="Google Shape;86;p18"/>
          <p:cNvSpPr txBox="1"/>
          <p:nvPr>
            <p:ph type="body" idx="1"/>
          </p:nvPr>
        </p:nvSpPr>
        <p:spPr bwMode="auto">
          <a:xfrm flipH="0" flipV="0">
            <a:off x="58500" y="1313849"/>
            <a:ext cx="9043146" cy="3416400"/>
          </a:xfrm>
          <a:prstGeom prst="rect">
            <a:avLst/>
          </a:prstGeom>
        </p:spPr>
        <p:txBody>
          <a:bodyPr spcFirstLastPara="1" wrap="square" lIns="91424" tIns="91424" rIns="91424" bIns="91424" anchor="t" anchorCtr="0">
            <a:noAutofit/>
          </a:bodyPr>
          <a:lstStyle/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en" sz="2000">
                <a:solidFill>
                  <a:srgbClr val="0451A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-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 </a:t>
            </a:r>
            <a:r>
              <a:rPr lang="en" sz="2000" b="1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Input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: clk, rst_n, opcode, valid, mode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en" sz="2000">
                <a:solidFill>
                  <a:srgbClr val="0451A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-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 </a:t>
            </a:r>
            <a:r>
              <a:rPr lang="en" sz="2000" b="1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Mode=0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: Uses Low-Power control unit (slower,less power)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en" sz="2000">
                <a:solidFill>
                  <a:srgbClr val="0451A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-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 </a:t>
            </a:r>
            <a:r>
              <a:rPr lang="en" sz="2000" b="1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Mode=1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: Uses High-Perf control unit (faster, more power)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en" sz="2000">
                <a:solidFill>
                  <a:srgbClr val="0451A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-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 Supports 5 opcodes: NOP, ADD, SUB, AND, OR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  <a:defRPr/>
            </a:pP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0490409" name="Google Shape;91;p19"/>
          <p:cNvSpPr txBox="1"/>
          <p:nvPr>
            <p:ph type="title"/>
          </p:nvPr>
        </p:nvSpPr>
        <p:spPr bwMode="auto"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3600" b="1">
                <a:highlight>
                  <a:schemeClr val="lt1"/>
                </a:highlight>
                <a:latin typeface="Courier New"/>
                <a:ea typeface="Courier New"/>
                <a:cs typeface="Courier New"/>
              </a:rPr>
              <a:t>POWER REPORT</a:t>
            </a:r>
            <a:endParaRPr sz="3600">
              <a:highlight>
                <a:schemeClr val="lt1"/>
              </a:highlight>
            </a:endParaRPr>
          </a:p>
        </p:txBody>
      </p:sp>
      <p:pic>
        <p:nvPicPr>
          <p:cNvPr id="395379786" name="Google Shape;92;p19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>
            <a:off x="213476" y="1650676"/>
            <a:ext cx="8520599" cy="178338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3028066" name="Google Shape;97;p20"/>
          <p:cNvSpPr txBox="1"/>
          <p:nvPr>
            <p:ph type="title"/>
          </p:nvPr>
        </p:nvSpPr>
        <p:spPr bwMode="auto"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3600" b="1">
                <a:highlight>
                  <a:schemeClr val="lt1"/>
                </a:highlight>
                <a:latin typeface="Courier New"/>
                <a:ea typeface="Courier New"/>
                <a:cs typeface="Courier New"/>
              </a:rPr>
              <a:t>TIMING REPORT</a:t>
            </a:r>
            <a:endParaRPr sz="3600">
              <a:highlight>
                <a:schemeClr val="lt1"/>
              </a:highlight>
            </a:endParaRPr>
          </a:p>
        </p:txBody>
      </p:sp>
      <p:pic>
        <p:nvPicPr>
          <p:cNvPr id="166922456" name="Google Shape;98;p20"/>
          <p:cNvPicPr/>
          <p:nvPr/>
        </p:nvPicPr>
        <p:blipFill rotWithShape="1">
          <a:blip r:embed="rId3">
            <a:alphaModFix/>
          </a:blip>
          <a:srcRect l="8834" t="11252" r="0" b="33402"/>
          <a:stretch/>
        </p:blipFill>
        <p:spPr bwMode="auto">
          <a:xfrm>
            <a:off x="84224" y="1298150"/>
            <a:ext cx="8994424" cy="2133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7432945" name="Google Shape;103;p21"/>
          <p:cNvSpPr txBox="1"/>
          <p:nvPr>
            <p:ph type="title"/>
          </p:nvPr>
        </p:nvSpPr>
        <p:spPr bwMode="auto"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3600" b="1">
                <a:highlight>
                  <a:schemeClr val="lt1"/>
                </a:highlight>
                <a:latin typeface="Courier New"/>
                <a:ea typeface="Courier New"/>
                <a:cs typeface="Courier New"/>
              </a:rPr>
              <a:t>ADVANTAGES</a:t>
            </a:r>
            <a:endParaRPr sz="3600">
              <a:highlight>
                <a:schemeClr val="lt1"/>
              </a:highlight>
            </a:endParaRPr>
          </a:p>
        </p:txBody>
      </p:sp>
      <p:sp>
        <p:nvSpPr>
          <p:cNvPr id="431870019" name="Google Shape;104;p21"/>
          <p:cNvSpPr txBox="1"/>
          <p:nvPr>
            <p:ph type="body" idx="1"/>
          </p:nvPr>
        </p:nvSpPr>
        <p:spPr bwMode="auto">
          <a:xfrm>
            <a:off x="213475" y="131384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- </a:t>
            </a:r>
            <a:r>
              <a:rPr lang="en" sz="2000" b="1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Flexibility: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 Dynamic runtime mode switching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- </a:t>
            </a:r>
            <a:r>
              <a:rPr lang="en" sz="2000" b="1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Power Saving: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 Use low-power mode for simple tasks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- </a:t>
            </a:r>
            <a:r>
              <a:rPr lang="en" sz="2000" b="1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Performance: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 Use high-perf mode for critical operations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- </a:t>
            </a:r>
            <a:r>
              <a:rPr lang="en" sz="2000" b="1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Scalability: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 Architecture easily extensible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  <a:defRPr/>
            </a:pP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3517299" name="Google Shape;109;p22"/>
          <p:cNvSpPr txBox="1"/>
          <p:nvPr>
            <p:ph type="title"/>
          </p:nvPr>
        </p:nvSpPr>
        <p:spPr bwMode="auto"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3600" b="1">
                <a:highlight>
                  <a:schemeClr val="lt1"/>
                </a:highlight>
                <a:latin typeface="Courier New"/>
                <a:ea typeface="Courier New"/>
                <a:cs typeface="Courier New"/>
              </a:rPr>
              <a:t>DISADVANTAGES</a:t>
            </a:r>
            <a:endParaRPr sz="3600">
              <a:highlight>
                <a:schemeClr val="lt1"/>
              </a:highlight>
            </a:endParaRPr>
          </a:p>
        </p:txBody>
      </p:sp>
      <p:sp>
        <p:nvSpPr>
          <p:cNvPr id="1426921400" name="Google Shape;110;p22"/>
          <p:cNvSpPr txBox="1"/>
          <p:nvPr>
            <p:ph type="body" idx="1"/>
          </p:nvPr>
        </p:nvSpPr>
        <p:spPr bwMode="auto">
          <a:xfrm>
            <a:off x="213475" y="131384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- </a:t>
            </a:r>
            <a:r>
              <a:rPr lang="en" sz="2000" b="1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Area Overhead: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 Duplicate control path logic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- </a:t>
            </a:r>
            <a:r>
              <a:rPr lang="en" sz="2000" b="1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Complexity: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 Mode switching introduces timing considerations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- </a:t>
            </a:r>
            <a:r>
              <a:rPr lang="en" sz="2000" b="1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Design Effort:</a:t>
            </a:r>
            <a:r>
              <a:rPr lang="en" sz="20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 Need to maintain two control units</a:t>
            </a: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  <a:defRPr/>
            </a:pPr>
            <a:endParaRPr sz="20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4890258" name="Google Shape;115;p23"/>
          <p:cNvSpPr txBox="1"/>
          <p:nvPr>
            <p:ph type="title"/>
          </p:nvPr>
        </p:nvSpPr>
        <p:spPr bwMode="auto"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3600" b="1">
                <a:highlight>
                  <a:schemeClr val="lt1"/>
                </a:highlight>
                <a:latin typeface="Courier New"/>
                <a:ea typeface="Courier New"/>
                <a:cs typeface="Courier New"/>
              </a:rPr>
              <a:t>CONCLUSION</a:t>
            </a:r>
            <a:endParaRPr sz="3600">
              <a:highlight>
                <a:schemeClr val="lt1"/>
              </a:highlight>
            </a:endParaRPr>
          </a:p>
        </p:txBody>
      </p:sp>
      <p:sp>
        <p:nvSpPr>
          <p:cNvPr id="560200426" name="Google Shape;116;p23"/>
          <p:cNvSpPr txBox="1"/>
          <p:nvPr>
            <p:ph type="body" idx="1"/>
          </p:nvPr>
        </p:nvSpPr>
        <p:spPr bwMode="auto">
          <a:xfrm>
            <a:off x="213475" y="1313849"/>
            <a:ext cx="87684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en" sz="1900">
                <a:solidFill>
                  <a:srgbClr val="0451A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-</a:t>
            </a:r>
            <a:r>
              <a:rPr lang="en" sz="19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 Successfully implemented adaptive control unit in SystemVerilog</a:t>
            </a:r>
            <a:endParaRPr sz="19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en" sz="1900">
                <a:solidFill>
                  <a:srgbClr val="0451A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-</a:t>
            </a:r>
            <a:r>
              <a:rPr lang="en" sz="19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 Demonstrated power-performance tradeoff via dual-mode design</a:t>
            </a:r>
            <a:endParaRPr sz="19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en" sz="1900">
                <a:solidFill>
                  <a:srgbClr val="0451A5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-</a:t>
            </a:r>
            <a:r>
              <a:rPr lang="en" sz="190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</a:rPr>
              <a:t> Verified functionality through comprehensive testbench</a:t>
            </a:r>
            <a:endParaRPr sz="19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endParaRPr sz="19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  <a:defRPr/>
            </a:pPr>
            <a:endParaRPr sz="190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ONLYOFFICE/9.3.1.8</Application>
  <PresentationFormat>On-screen Show (4:3)</PresentationFormat>
  <Paragraphs>0</Paragraphs>
  <Slides>11</Slides>
  <Notes>11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/>
</cp:coreProperties>
</file>